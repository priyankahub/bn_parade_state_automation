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0B566-724C-880E-A7AD-F49F6177B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3471E-5724-246C-B744-E320759A8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27DC-490B-554E-C5F6-C227ECB8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39A4-34C0-57EC-37DD-C3F04200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96122-8348-322C-33F1-F1CC6397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40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BE59-1A58-0C6F-B3CF-A316CADA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AF59E-4176-7807-DD31-58D06A05B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A6EF8-3458-389E-C70A-417A6521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8D94F-2977-7AD4-C32B-1D2C504A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33013-6803-EAC8-C5FA-EF65B02A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3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8FEA-3D17-A648-9DD1-4E262535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FDBD9-83C7-E4E9-B684-4A57FF340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6C5B9-7842-B94D-E378-64B94667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AE150-75DA-AABA-6B98-B5E66D4F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046F2-0F52-3F11-E379-E9FC9DD9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6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DF13-02EF-61EE-F81B-B871E393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A003A-23EE-EB90-E5D2-8AAD2F015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1E92F-B575-540D-C2F3-FA0D36AB0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1F2DD-EEED-6EAB-C081-CDFF2A9D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9C563-83B3-1E5C-43DC-F4C0AB29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0B548-32C4-38D7-FEAE-04AA0DFB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4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F3BA-5A4A-5DB7-E075-688D7984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2B16E-970E-7884-5F7C-816ED1D8F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98AF0-8CE7-43D3-1E46-17C72B6C9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CEC34-AAAC-E9AA-9C7C-D68B1741B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CFF5B0-830F-F31B-725D-817362AFF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2027C-51E6-9429-C927-C6FC923C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F7CF4-D050-0689-63D7-3BBA214C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D96E7-243D-A071-F780-FDBF65C9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0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A5F0-7EAC-F8B4-A57A-4869E28D5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CB3FD-1A19-65F3-1878-DBFCB04A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85E548-02C2-EE82-6DA0-D7287E5E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E5248-5BAB-7FC8-61AD-E910C8B6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9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7BE73-BA16-540C-1BA6-5B0D823C2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B4D4E-483C-4ADE-84CC-473A29EE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C7703-A8EB-CA0E-9762-E865F73A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0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6D6B-C75F-9B41-6678-CECFBAC32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184B-B41A-541A-2E68-098214B73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70586-4E87-CD01-6D28-CBEB8B021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B3BA0-00EE-43B4-11A8-841F20FD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0DB8B-D09C-9123-7EA4-27CD3AAF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17D7A-0308-81E0-2755-10D28E41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7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7FF2-AE43-9B50-BDE3-B618D12D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FFFAB-7236-0F3D-20A1-336376998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099AC-A205-8461-80D2-13D2B47FA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3D3B0-184F-0061-5C34-DB7648C8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59D1D-D782-C5D1-3C4F-C383E928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D0B3A-8349-3B9D-FD00-B59CF91E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1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6EF7-18F7-F76D-235F-0B93CAF3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B8DEC-AAFF-2586-EC63-FE5AC42DA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5E2E-C7D4-58AC-DB1D-21DCD4920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2072A-91B1-FE66-065E-F9B609E8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26783-D9BE-9851-23C6-C11ECA4D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8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788A4-9510-6B5E-76A8-8420E2ABA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8BB65-963E-BC5B-BD47-C6D567820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3B2E1-F482-5AF6-1A7B-B8904735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A3BF2-F585-F381-1317-2BB91FAA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4CE9-7A25-3892-2CD7-4D6072B7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3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5A850C-DC21-F7C4-3EF9-24428074F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AF853-46D4-9F9D-760B-557513B78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A5C87-30C8-90B1-18C3-F3CACF33F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AA1F3-8586-410A-80A6-68A37C57A94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A13DB-2938-B0CB-0EEC-32861E540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D86BC-EE97-582B-3CF9-23EDEB258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D8EF1-5748-4097-8CDC-D12F5CF18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46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C867F2-5455-5362-F2E7-A31854D760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D7E0B7-0585-7253-42D7-605ED28FF64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8AB75-F911-FCEF-2476-2836F274BA48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4C26C-7F15-7F8A-C506-662D499C8FFD}"/>
              </a:ext>
            </a:extLst>
          </p:cNvPr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FFC800"/>
                </a:solidFill>
              </a:rPr>
              <a:t>THE INFANTRY SCHOOL, MHOW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86D82C-4DD7-4161-2F8C-A74E1E3BAA0B}"/>
              </a:ext>
            </a:extLst>
          </p:cNvPr>
          <p:cNvSpPr txBox="1"/>
          <p:nvPr/>
        </p:nvSpPr>
        <p:spPr>
          <a:xfrm>
            <a:off x="762000" y="1778000"/>
            <a:ext cx="1066800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</a:rPr>
              <a:t>Battalion Parade State
Automation Portal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E7F2B-E979-BDB6-2B3D-F40B054D06EA}"/>
              </a:ext>
            </a:extLst>
          </p:cNvPr>
          <p:cNvSpPr txBox="1"/>
          <p:nvPr/>
        </p:nvSpPr>
        <p:spPr>
          <a:xfrm>
            <a:off x="762000" y="3683000"/>
            <a:ext cx="1066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BBBBBB"/>
                </a:solidFill>
              </a:rPr>
              <a:t>Digitising Daily Strength Reporting — Commanding Officer Briefing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05C31-C433-E541-F14B-8D1D1D8C4320}"/>
              </a:ext>
            </a:extLst>
          </p:cNvPr>
          <p:cNvSpPr/>
          <p:nvPr/>
        </p:nvSpPr>
        <p:spPr>
          <a:xfrm>
            <a:off x="3556000" y="4318000"/>
            <a:ext cx="5080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6C716-AF55-8376-F1EE-BA54796F35C7}"/>
              </a:ext>
            </a:extLst>
          </p:cNvPr>
          <p:cNvSpPr txBox="1"/>
          <p:nvPr/>
        </p:nvSpPr>
        <p:spPr>
          <a:xfrm>
            <a:off x="762000" y="4572000"/>
            <a:ext cx="1066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>
                <a:solidFill>
                  <a:srgbClr val="999999"/>
                </a:solidFill>
              </a:rPr>
              <a:t>Version 1.2  |  May 2026</a:t>
            </a:r>
          </a:p>
        </p:txBody>
      </p:sp>
    </p:spTree>
    <p:extLst>
      <p:ext uri="{BB962C8B-B14F-4D97-AF65-F5344CB8AC3E}">
        <p14:creationId xmlns:p14="http://schemas.microsoft.com/office/powerpoint/2010/main" val="2039029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B6FDE2-FF86-BABC-3FA7-C80DD0A3EF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1E8224-1523-522A-0A24-591266C8622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EFA1A-CC1A-52C9-8CBB-5DF0974ECFAA}"/>
              </a:ext>
            </a:extLst>
          </p:cNvPr>
          <p:cNvSpPr txBox="1"/>
          <p:nvPr/>
        </p:nvSpPr>
        <p:spPr>
          <a:xfrm>
            <a:off x="762000" y="381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THE PROBLEM — Manual Parade State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033DE-7AE4-ACBF-185E-763A3642B88C}"/>
              </a:ext>
            </a:extLst>
          </p:cNvPr>
          <p:cNvSpPr/>
          <p:nvPr/>
        </p:nvSpPr>
        <p:spPr>
          <a:xfrm>
            <a:off x="762000" y="10160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8708DF-6B8A-9780-E259-4DF798BAA5F3}"/>
              </a:ext>
            </a:extLst>
          </p:cNvPr>
          <p:cNvSpPr txBox="1"/>
          <p:nvPr/>
        </p:nvSpPr>
        <p:spPr>
          <a:xfrm>
            <a:off x="1016000" y="1397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DDDDDD"/>
                </a:solidFill>
              </a:rPr>
              <a:t>  Manual registers and Excel workbooks — error-prone and time-consuming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EA31B-4E96-A90B-A62D-E75939B5FB30}"/>
              </a:ext>
            </a:extLst>
          </p:cNvPr>
          <p:cNvSpPr txBox="1"/>
          <p:nvPr/>
        </p:nvSpPr>
        <p:spPr>
          <a:xfrm>
            <a:off x="1016000" y="1930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DDDDDD"/>
                </a:solidFill>
              </a:rPr>
              <a:t>  No real-time visibility of unit strength for Commanding Officer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B5C2C-0E4F-C935-8474-A8229E7C9BBE}"/>
              </a:ext>
            </a:extLst>
          </p:cNvPr>
          <p:cNvSpPr txBox="1"/>
          <p:nvPr/>
        </p:nvSpPr>
        <p:spPr>
          <a:xfrm>
            <a:off x="1016000" y="24638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DDDDDD"/>
                </a:solidFill>
              </a:rPr>
              <a:t>  Leave, Course, Duty and Sick data recorded in separate files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C23C6-C358-C9C6-561D-9D95A1E9A276}"/>
              </a:ext>
            </a:extLst>
          </p:cNvPr>
          <p:cNvSpPr txBox="1"/>
          <p:nvPr/>
        </p:nvSpPr>
        <p:spPr>
          <a:xfrm>
            <a:off x="1016000" y="29972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DDDDDD"/>
                </a:solidFill>
              </a:rPr>
              <a:t>  Strength calculations done manually — prone to arithmetic errors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F23390-F8AA-E2DF-9D69-3D8772F7C6CC}"/>
              </a:ext>
            </a:extLst>
          </p:cNvPr>
          <p:cNvSpPr txBox="1"/>
          <p:nvPr/>
        </p:nvSpPr>
        <p:spPr>
          <a:xfrm>
            <a:off x="1016000" y="35306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DDDDDD"/>
                </a:solidFill>
              </a:rPr>
              <a:t>  No approval workflow — clerk entries unverified before reporting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4DE7AC-E617-6930-3852-1228EA45ADD0}"/>
              </a:ext>
            </a:extLst>
          </p:cNvPr>
          <p:cNvSpPr txBox="1"/>
          <p:nvPr/>
        </p:nvSpPr>
        <p:spPr>
          <a:xfrm>
            <a:off x="1016000" y="4064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DDDDDD"/>
                </a:solidFill>
              </a:rPr>
              <a:t>  No audit trail — corrections leave no record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E947D-FD4F-75DE-BFBD-CFBAAA64C48E}"/>
              </a:ext>
            </a:extLst>
          </p:cNvPr>
          <p:cNvSpPr txBox="1"/>
          <p:nvPr/>
        </p:nvSpPr>
        <p:spPr>
          <a:xfrm>
            <a:off x="1016000" y="4597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>
                <a:solidFill>
                  <a:srgbClr val="DDDDDD"/>
                </a:solidFill>
              </a:rPr>
              <a:t>  Risk of data loss due to file corruption or hardware failure</a:t>
            </a:r>
          </a:p>
        </p:txBody>
      </p:sp>
    </p:spTree>
    <p:extLst>
      <p:ext uri="{BB962C8B-B14F-4D97-AF65-F5344CB8AC3E}">
        <p14:creationId xmlns:p14="http://schemas.microsoft.com/office/powerpoint/2010/main" val="124379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AE2018-ED61-DE40-9106-0201E835E6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5DDC2-F043-ECA7-A16E-296D9DE1468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C07FE-7351-067B-288A-D053EB6DD9EE}"/>
              </a:ext>
            </a:extLst>
          </p:cNvPr>
          <p:cNvSpPr txBox="1"/>
          <p:nvPr/>
        </p:nvSpPr>
        <p:spPr>
          <a:xfrm>
            <a:off x="762000" y="381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THE SOLUTION — Web-Based Automation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06E8F-A28A-1AA7-0864-7D16E6BC1F81}"/>
              </a:ext>
            </a:extLst>
          </p:cNvPr>
          <p:cNvSpPr/>
          <p:nvPr/>
        </p:nvSpPr>
        <p:spPr>
          <a:xfrm>
            <a:off x="762000" y="10160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8B23A-1A0D-EB6B-5E90-D3EE781A504F}"/>
              </a:ext>
            </a:extLst>
          </p:cNvPr>
          <p:cNvSpPr/>
          <p:nvPr/>
        </p:nvSpPr>
        <p:spPr>
          <a:xfrm>
            <a:off x="762000" y="1397000"/>
            <a:ext cx="3429000" cy="2540000"/>
          </a:xfrm>
          <a:prstGeom prst="rect">
            <a:avLst/>
          </a:prstGeom>
          <a:solidFill>
            <a:srgbClr val="383838"/>
          </a:solidFill>
          <a:ln w="19050">
            <a:solidFill>
              <a:srgbClr val="FFC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432F72-6BCD-62D2-AA97-CA59271DEE8E}"/>
              </a:ext>
            </a:extLst>
          </p:cNvPr>
          <p:cNvSpPr txBox="1"/>
          <p:nvPr/>
        </p:nvSpPr>
        <p:spPr>
          <a:xfrm>
            <a:off x="952500" y="1524000"/>
            <a:ext cx="304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C800"/>
                </a:solidFill>
              </a:rPr>
              <a:t>Real-Time Strength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C0C68-216F-B990-42CC-BBCE4DAA79F2}"/>
              </a:ext>
            </a:extLst>
          </p:cNvPr>
          <p:cNvSpPr txBox="1"/>
          <p:nvPr/>
        </p:nvSpPr>
        <p:spPr>
          <a:xfrm>
            <a:off x="952500" y="20955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Live dashboard showing present strength, absences, and pending approvals for every company — at a glance.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3043DE-5982-03BF-D36D-94AFED83E84D}"/>
              </a:ext>
            </a:extLst>
          </p:cNvPr>
          <p:cNvSpPr/>
          <p:nvPr/>
        </p:nvSpPr>
        <p:spPr>
          <a:xfrm>
            <a:off x="4572000" y="1397000"/>
            <a:ext cx="3429000" cy="2540000"/>
          </a:xfrm>
          <a:prstGeom prst="rect">
            <a:avLst/>
          </a:prstGeom>
          <a:solidFill>
            <a:srgbClr val="383838"/>
          </a:solidFill>
          <a:ln w="19050">
            <a:solidFill>
              <a:srgbClr val="FFC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8CD81C-E8CF-97F7-0969-786667ABE475}"/>
              </a:ext>
            </a:extLst>
          </p:cNvPr>
          <p:cNvSpPr txBox="1"/>
          <p:nvPr/>
        </p:nvSpPr>
        <p:spPr>
          <a:xfrm>
            <a:off x="4762500" y="1524000"/>
            <a:ext cx="304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C800"/>
                </a:solidFill>
              </a:rPr>
              <a:t>Role-Based Access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AA8863-4ADA-D3D5-D222-66AA5FDE1DF5}"/>
              </a:ext>
            </a:extLst>
          </p:cNvPr>
          <p:cNvSpPr txBox="1"/>
          <p:nvPr/>
        </p:nvSpPr>
        <p:spPr>
          <a:xfrm>
            <a:off x="4762500" y="20955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Admin, Adjutant, Clerks and Officers each see only what they need. Full audit trail for every entry.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B55F78-E4BC-7C7B-5440-C8B341C6B34E}"/>
              </a:ext>
            </a:extLst>
          </p:cNvPr>
          <p:cNvSpPr/>
          <p:nvPr/>
        </p:nvSpPr>
        <p:spPr>
          <a:xfrm>
            <a:off x="8382000" y="1397000"/>
            <a:ext cx="3429000" cy="2540000"/>
          </a:xfrm>
          <a:prstGeom prst="rect">
            <a:avLst/>
          </a:prstGeom>
          <a:solidFill>
            <a:srgbClr val="383838"/>
          </a:solidFill>
          <a:ln w="19050">
            <a:solidFill>
              <a:srgbClr val="FFC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62EA8-DC91-0FF1-63B7-50692D4D4400}"/>
              </a:ext>
            </a:extLst>
          </p:cNvPr>
          <p:cNvSpPr txBox="1"/>
          <p:nvPr/>
        </p:nvSpPr>
        <p:spPr>
          <a:xfrm>
            <a:off x="8572500" y="1524000"/>
            <a:ext cx="304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C800"/>
                </a:solidFill>
              </a:rPr>
              <a:t>Integrated Tracking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37D791-DFBF-7FF0-26D5-0AABC84757A8}"/>
              </a:ext>
            </a:extLst>
          </p:cNvPr>
          <p:cNvSpPr txBox="1"/>
          <p:nvPr/>
        </p:nvSpPr>
        <p:spPr>
          <a:xfrm>
            <a:off x="8572500" y="2095500"/>
            <a:ext cx="304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CCCCCC"/>
                </a:solidFill>
              </a:rPr>
              <a:t>Leave, Course, Duty and Sick reports in one system. No more separate registers or cross-referencing.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DB3FB5-4E69-2BDF-012A-7AAAD23BD282}"/>
              </a:ext>
            </a:extLst>
          </p:cNvPr>
          <p:cNvSpPr txBox="1"/>
          <p:nvPr/>
        </p:nvSpPr>
        <p:spPr>
          <a:xfrm>
            <a:off x="762000" y="4318000"/>
            <a:ext cx="1066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>
                <a:solidFill>
                  <a:srgbClr val="AAAAAA"/>
                </a:solidFill>
              </a:rPr>
              <a:t>Runs on existing XAMPP infrastructure — no internet required, no cloud dependency, fully internal.</a:t>
            </a:r>
          </a:p>
        </p:txBody>
      </p:sp>
    </p:spTree>
    <p:extLst>
      <p:ext uri="{BB962C8B-B14F-4D97-AF65-F5344CB8AC3E}">
        <p14:creationId xmlns:p14="http://schemas.microsoft.com/office/powerpoint/2010/main" val="411399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5CB597-77A6-1113-5264-8CF4579FD2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85829-25EE-F749-5ED3-91EC420A345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30FFB-5E7B-7C69-25A9-08A7C9C5A871}"/>
              </a:ext>
            </a:extLst>
          </p:cNvPr>
          <p:cNvSpPr txBox="1"/>
          <p:nvPr/>
        </p:nvSpPr>
        <p:spPr>
          <a:xfrm>
            <a:off x="762000" y="381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SYSTEM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5F5850-9C8B-BFAE-B06D-757171A8BDC0}"/>
              </a:ext>
            </a:extLst>
          </p:cNvPr>
          <p:cNvSpPr/>
          <p:nvPr/>
        </p:nvSpPr>
        <p:spPr>
          <a:xfrm>
            <a:off x="762000" y="10160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2EA37D-E2B8-A817-C9A1-819AF1B10781}"/>
              </a:ext>
            </a:extLst>
          </p:cNvPr>
          <p:cNvSpPr/>
          <p:nvPr/>
        </p:nvSpPr>
        <p:spPr>
          <a:xfrm>
            <a:off x="2540000" y="1397000"/>
            <a:ext cx="7112000" cy="635000"/>
          </a:xfrm>
          <a:prstGeom prst="rect">
            <a:avLst/>
          </a:prstGeom>
          <a:solidFill>
            <a:srgbClr val="AA5533"/>
          </a:solidFill>
          <a:ln w="12700">
            <a:solidFill>
              <a:srgbClr val="FFC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6AF82-E742-34A7-2CDD-B61766A5901C}"/>
              </a:ext>
            </a:extLst>
          </p:cNvPr>
          <p:cNvSpPr txBox="1"/>
          <p:nvPr/>
        </p:nvSpPr>
        <p:spPr>
          <a:xfrm>
            <a:off x="2540000" y="1524000"/>
            <a:ext cx="711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Browser (Any Device)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CAB6F6-88E8-67DC-FFAC-17BA50C0E13B}"/>
              </a:ext>
            </a:extLst>
          </p:cNvPr>
          <p:cNvSpPr/>
          <p:nvPr/>
        </p:nvSpPr>
        <p:spPr>
          <a:xfrm>
            <a:off x="2540000" y="2286000"/>
            <a:ext cx="7112000" cy="635000"/>
          </a:xfrm>
          <a:prstGeom prst="rect">
            <a:avLst/>
          </a:prstGeom>
          <a:solidFill>
            <a:srgbClr val="336655"/>
          </a:solidFill>
          <a:ln w="12700">
            <a:solidFill>
              <a:srgbClr val="FFC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3A064-E8D3-DD53-04B0-A6BF7D9F7582}"/>
              </a:ext>
            </a:extLst>
          </p:cNvPr>
          <p:cNvSpPr txBox="1"/>
          <p:nvPr/>
        </p:nvSpPr>
        <p:spPr>
          <a:xfrm>
            <a:off x="2540000" y="2413000"/>
            <a:ext cx="711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XAMPP Apache Web Server (PHP 8.0)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D76855-4DFF-A978-1533-6876505DFBDB}"/>
              </a:ext>
            </a:extLst>
          </p:cNvPr>
          <p:cNvSpPr/>
          <p:nvPr/>
        </p:nvSpPr>
        <p:spPr>
          <a:xfrm>
            <a:off x="2540000" y="3175000"/>
            <a:ext cx="7112000" cy="635000"/>
          </a:xfrm>
          <a:prstGeom prst="rect">
            <a:avLst/>
          </a:prstGeom>
          <a:solidFill>
            <a:srgbClr val="0055AA"/>
          </a:solidFill>
          <a:ln w="12700">
            <a:solidFill>
              <a:srgbClr val="FFC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08A8B-737C-A858-9517-C7030985D361}"/>
              </a:ext>
            </a:extLst>
          </p:cNvPr>
          <p:cNvSpPr txBox="1"/>
          <p:nvPr/>
        </p:nvSpPr>
        <p:spPr>
          <a:xfrm>
            <a:off x="2540000" y="3302000"/>
            <a:ext cx="711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MySQL Database (bn_parade_state_db)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22C067-F60A-9FB2-4532-EE201CF5ADF2}"/>
              </a:ext>
            </a:extLst>
          </p:cNvPr>
          <p:cNvSpPr/>
          <p:nvPr/>
        </p:nvSpPr>
        <p:spPr>
          <a:xfrm>
            <a:off x="2540000" y="4064000"/>
            <a:ext cx="7112000" cy="635000"/>
          </a:xfrm>
          <a:prstGeom prst="rect">
            <a:avLst/>
          </a:prstGeom>
          <a:solidFill>
            <a:srgbClr val="553355"/>
          </a:solidFill>
          <a:ln w="12700">
            <a:solidFill>
              <a:srgbClr val="FFC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E79AF-CA98-ACEE-FE53-D886AC486559}"/>
              </a:ext>
            </a:extLst>
          </p:cNvPr>
          <p:cNvSpPr txBox="1"/>
          <p:nvPr/>
        </p:nvSpPr>
        <p:spPr>
          <a:xfrm>
            <a:off x="2540000" y="4191000"/>
            <a:ext cx="711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Local Area Network — No Internet Required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F8A397-84C0-9ECA-2E72-E22268505051}"/>
              </a:ext>
            </a:extLst>
          </p:cNvPr>
          <p:cNvSpPr/>
          <p:nvPr/>
        </p:nvSpPr>
        <p:spPr>
          <a:xfrm>
            <a:off x="6032500" y="2032000"/>
            <a:ext cx="127000" cy="2540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015F76-FA7C-52E3-8363-2BA1B0F45651}"/>
              </a:ext>
            </a:extLst>
          </p:cNvPr>
          <p:cNvSpPr/>
          <p:nvPr/>
        </p:nvSpPr>
        <p:spPr>
          <a:xfrm>
            <a:off x="6032500" y="2921000"/>
            <a:ext cx="127000" cy="2540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50EBFF-0036-4FA1-CBB5-518253350E8D}"/>
              </a:ext>
            </a:extLst>
          </p:cNvPr>
          <p:cNvSpPr/>
          <p:nvPr/>
        </p:nvSpPr>
        <p:spPr>
          <a:xfrm>
            <a:off x="6032500" y="3810000"/>
            <a:ext cx="127000" cy="2540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648251-7918-3026-EEB3-8F26ED85166A}"/>
              </a:ext>
            </a:extLst>
          </p:cNvPr>
          <p:cNvSpPr txBox="1"/>
          <p:nvPr/>
        </p:nvSpPr>
        <p:spPr>
          <a:xfrm>
            <a:off x="762000" y="50165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>
                <a:solidFill>
                  <a:srgbClr val="999999"/>
                </a:solidFill>
              </a:rPr>
              <a:t>11 database tables  |  PHP sessions with CSRF protection  |  bcrypt password hashing  |  Role-based page routing  |  Account lockout after 5 failed attempts</a:t>
            </a:r>
          </a:p>
        </p:txBody>
      </p:sp>
    </p:spTree>
    <p:extLst>
      <p:ext uri="{BB962C8B-B14F-4D97-AF65-F5344CB8AC3E}">
        <p14:creationId xmlns:p14="http://schemas.microsoft.com/office/powerpoint/2010/main" val="407357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82B9B6-6D26-7EDA-D255-455908BC69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6B26B5-EECF-395E-E569-9F9C0ECF11C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203E6-D562-A794-DADA-1AF05D87F93F}"/>
              </a:ext>
            </a:extLst>
          </p:cNvPr>
          <p:cNvSpPr txBox="1"/>
          <p:nvPr/>
        </p:nvSpPr>
        <p:spPr>
          <a:xfrm>
            <a:off x="762000" y="381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USER ROLES &amp; ACCESS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ACAD6D-5A49-8346-FF30-BA6B409088AE}"/>
              </a:ext>
            </a:extLst>
          </p:cNvPr>
          <p:cNvSpPr/>
          <p:nvPr/>
        </p:nvSpPr>
        <p:spPr>
          <a:xfrm>
            <a:off x="762000" y="10160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DEEEE7-C4FD-5365-AD78-AC8CDF6317A3}"/>
              </a:ext>
            </a:extLst>
          </p:cNvPr>
          <p:cNvSpPr/>
          <p:nvPr/>
        </p:nvSpPr>
        <p:spPr>
          <a:xfrm>
            <a:off x="698500" y="1333500"/>
            <a:ext cx="2603500" cy="3556000"/>
          </a:xfrm>
          <a:prstGeom prst="rect">
            <a:avLst/>
          </a:prstGeom>
          <a:solidFill>
            <a:srgbClr val="333333"/>
          </a:solidFill>
          <a:ln w="25400">
            <a:solidFill>
              <a:srgbClr val="9911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B8406-4F11-8DAE-8983-4228B95E71DD}"/>
              </a:ext>
            </a:extLst>
          </p:cNvPr>
          <p:cNvSpPr/>
          <p:nvPr/>
        </p:nvSpPr>
        <p:spPr>
          <a:xfrm>
            <a:off x="698500" y="1333500"/>
            <a:ext cx="2603500" cy="444500"/>
          </a:xfrm>
          <a:prstGeom prst="rect">
            <a:avLst/>
          </a:prstGeom>
          <a:solidFill>
            <a:srgbClr val="9911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0BB4A-1D36-A981-8E62-CDB4B03B0A48}"/>
              </a:ext>
            </a:extLst>
          </p:cNvPr>
          <p:cNvSpPr txBox="1"/>
          <p:nvPr/>
        </p:nvSpPr>
        <p:spPr>
          <a:xfrm>
            <a:off x="698500" y="1371600"/>
            <a:ext cx="260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38490E-2547-74E4-6FE2-055610412F6D}"/>
              </a:ext>
            </a:extLst>
          </p:cNvPr>
          <p:cNvSpPr txBox="1"/>
          <p:nvPr/>
        </p:nvSpPr>
        <p:spPr>
          <a:xfrm>
            <a:off x="762000" y="1879600"/>
            <a:ext cx="2476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C800"/>
                </a:solidFill>
              </a:rPr>
              <a:t>Sys Administrator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7E4DA-F498-D3A1-8E5D-93722335B2BB}"/>
              </a:ext>
            </a:extLst>
          </p:cNvPr>
          <p:cNvSpPr txBox="1"/>
          <p:nvPr/>
        </p:nvSpPr>
        <p:spPr>
          <a:xfrm>
            <a:off x="762000" y="2222500"/>
            <a:ext cx="24765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CCCCC"/>
                </a:solidFill>
              </a:rPr>
              <a:t>Full access — user mgmt, master data, approvals, all reports, nominal roll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4B25C7-C0EE-3823-FF79-094CA8E9C1AF}"/>
              </a:ext>
            </a:extLst>
          </p:cNvPr>
          <p:cNvSpPr/>
          <p:nvPr/>
        </p:nvSpPr>
        <p:spPr>
          <a:xfrm>
            <a:off x="3492500" y="1333500"/>
            <a:ext cx="2603500" cy="35560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55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1B623A-8189-3ED6-0CE0-AFF809A729DB}"/>
              </a:ext>
            </a:extLst>
          </p:cNvPr>
          <p:cNvSpPr/>
          <p:nvPr/>
        </p:nvSpPr>
        <p:spPr>
          <a:xfrm>
            <a:off x="3492500" y="1333500"/>
            <a:ext cx="2603500" cy="444500"/>
          </a:xfrm>
          <a:prstGeom prst="rect">
            <a:avLst/>
          </a:prstGeom>
          <a:solidFill>
            <a:srgbClr val="0055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26F19-8B03-5ECC-1499-8696C10CF4D5}"/>
              </a:ext>
            </a:extLst>
          </p:cNvPr>
          <p:cNvSpPr txBox="1"/>
          <p:nvPr/>
        </p:nvSpPr>
        <p:spPr>
          <a:xfrm>
            <a:off x="3492500" y="1371600"/>
            <a:ext cx="260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ADJT / SA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01A050-568F-6985-7814-ADAB83C73119}"/>
              </a:ext>
            </a:extLst>
          </p:cNvPr>
          <p:cNvSpPr txBox="1"/>
          <p:nvPr/>
        </p:nvSpPr>
        <p:spPr>
          <a:xfrm>
            <a:off x="3556000" y="1879600"/>
            <a:ext cx="2476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C800"/>
                </a:solidFill>
              </a:rPr>
              <a:t>Adjutant / Sub-Adj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98832D-8E55-DDE7-7113-8458589C69C2}"/>
              </a:ext>
            </a:extLst>
          </p:cNvPr>
          <p:cNvSpPr txBox="1"/>
          <p:nvPr/>
        </p:nvSpPr>
        <p:spPr>
          <a:xfrm>
            <a:off x="3556000" y="2222500"/>
            <a:ext cx="2476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CCCCC"/>
                </a:solidFill>
              </a:rPr>
              <a:t>Parade state approval, reports, nominal roll, duty overview, manpower shortages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BDBCE1-C108-6FEA-FC06-07E5B5F8C78C}"/>
              </a:ext>
            </a:extLst>
          </p:cNvPr>
          <p:cNvSpPr/>
          <p:nvPr/>
        </p:nvSpPr>
        <p:spPr>
          <a:xfrm>
            <a:off x="6286500" y="1333500"/>
            <a:ext cx="2603500" cy="3556000"/>
          </a:xfrm>
          <a:prstGeom prst="rect">
            <a:avLst/>
          </a:prstGeom>
          <a:solidFill>
            <a:srgbClr val="333333"/>
          </a:solidFill>
          <a:ln w="25400">
            <a:solidFill>
              <a:srgbClr val="2266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2CBF50-01D2-D23E-DC76-A604DF96BC7E}"/>
              </a:ext>
            </a:extLst>
          </p:cNvPr>
          <p:cNvSpPr/>
          <p:nvPr/>
        </p:nvSpPr>
        <p:spPr>
          <a:xfrm>
            <a:off x="6286500" y="1333500"/>
            <a:ext cx="2603500" cy="444500"/>
          </a:xfrm>
          <a:prstGeom prst="rect">
            <a:avLst/>
          </a:prstGeom>
          <a:solidFill>
            <a:srgbClr val="2266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550B92-33B9-8500-CDEC-9741D168AF16}"/>
              </a:ext>
            </a:extLst>
          </p:cNvPr>
          <p:cNvSpPr txBox="1"/>
          <p:nvPr/>
        </p:nvSpPr>
        <p:spPr>
          <a:xfrm>
            <a:off x="6286500" y="1371600"/>
            <a:ext cx="260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CHM CLERK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E6A21F-AC91-3EF0-7D10-CD604D50C6AD}"/>
              </a:ext>
            </a:extLst>
          </p:cNvPr>
          <p:cNvSpPr txBox="1"/>
          <p:nvPr/>
        </p:nvSpPr>
        <p:spPr>
          <a:xfrm>
            <a:off x="6350000" y="1879600"/>
            <a:ext cx="2476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C800"/>
                </a:solidFill>
              </a:rPr>
              <a:t>Coy HM / Clerk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FD1258-CEDE-33AE-244C-051F41109707}"/>
              </a:ext>
            </a:extLst>
          </p:cNvPr>
          <p:cNvSpPr txBox="1"/>
          <p:nvPr/>
        </p:nvSpPr>
        <p:spPr>
          <a:xfrm>
            <a:off x="6350000" y="2222500"/>
            <a:ext cx="2476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CCCCC"/>
                </a:solidFill>
              </a:rPr>
              <a:t>Daily entries for own company — attendance, leave, course, duty, sick report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2BE0C1-ADB4-595B-A051-EA790117E176}"/>
              </a:ext>
            </a:extLst>
          </p:cNvPr>
          <p:cNvSpPr/>
          <p:nvPr/>
        </p:nvSpPr>
        <p:spPr>
          <a:xfrm>
            <a:off x="9080500" y="1333500"/>
            <a:ext cx="2603500" cy="3556000"/>
          </a:xfrm>
          <a:prstGeom prst="rect">
            <a:avLst/>
          </a:prstGeom>
          <a:solidFill>
            <a:srgbClr val="333333"/>
          </a:solidFill>
          <a:ln w="25400">
            <a:solidFill>
              <a:srgbClr val="004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A2E2FC-2629-9BA6-C860-69B3A25F544B}"/>
              </a:ext>
            </a:extLst>
          </p:cNvPr>
          <p:cNvSpPr/>
          <p:nvPr/>
        </p:nvSpPr>
        <p:spPr>
          <a:xfrm>
            <a:off x="9080500" y="1333500"/>
            <a:ext cx="2603500" cy="444500"/>
          </a:xfrm>
          <a:prstGeom prst="rect">
            <a:avLst/>
          </a:prstGeom>
          <a:solidFill>
            <a:srgbClr val="004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B754A7-ADFC-A89A-D3C8-72D918E18712}"/>
              </a:ext>
            </a:extLst>
          </p:cNvPr>
          <p:cNvSpPr txBox="1"/>
          <p:nvPr/>
        </p:nvSpPr>
        <p:spPr>
          <a:xfrm>
            <a:off x="9080500" y="1371600"/>
            <a:ext cx="26035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51B9B-7FE0-A749-0D47-E290CA46B71B}"/>
              </a:ext>
            </a:extLst>
          </p:cNvPr>
          <p:cNvSpPr txBox="1"/>
          <p:nvPr/>
        </p:nvSpPr>
        <p:spPr>
          <a:xfrm>
            <a:off x="9144000" y="1879600"/>
            <a:ext cx="2476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C800"/>
                </a:solidFill>
              </a:rPr>
              <a:t>CO, 2IC, OC (RO)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D9F7CD-C52A-EF20-921C-5DDA55B435FB}"/>
              </a:ext>
            </a:extLst>
          </p:cNvPr>
          <p:cNvSpPr txBox="1"/>
          <p:nvPr/>
        </p:nvSpPr>
        <p:spPr>
          <a:xfrm>
            <a:off x="9144000" y="2222500"/>
            <a:ext cx="24765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CCCCC"/>
                </a:solidFill>
              </a:rPr>
              <a:t>Read-only: view parade state, analytics, reports. No editing rights.</a:t>
            </a:r>
          </a:p>
        </p:txBody>
      </p:sp>
    </p:spTree>
    <p:extLst>
      <p:ext uri="{BB962C8B-B14F-4D97-AF65-F5344CB8AC3E}">
        <p14:creationId xmlns:p14="http://schemas.microsoft.com/office/powerpoint/2010/main" val="344022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816012-4009-5A18-5297-E63AA0EFBD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AE7994-8A0D-A340-B0A6-BA5082CC813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B64EF-55BF-4623-D550-907C9CDF7026}"/>
              </a:ext>
            </a:extLst>
          </p:cNvPr>
          <p:cNvSpPr txBox="1"/>
          <p:nvPr/>
        </p:nvSpPr>
        <p:spPr>
          <a:xfrm>
            <a:off x="762000" y="381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KEY FEATURES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4A263-920B-7FDD-6C8E-341E997171B6}"/>
              </a:ext>
            </a:extLst>
          </p:cNvPr>
          <p:cNvSpPr/>
          <p:nvPr/>
        </p:nvSpPr>
        <p:spPr>
          <a:xfrm>
            <a:off x="762000" y="10160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CC6304-422F-B49F-5D1A-CD6C299C7BA6}"/>
              </a:ext>
            </a:extLst>
          </p:cNvPr>
          <p:cNvSpPr/>
          <p:nvPr/>
        </p:nvSpPr>
        <p:spPr>
          <a:xfrm>
            <a:off x="762000" y="1485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814DE-2CCD-0C38-EA27-3C897A5EC5FD}"/>
              </a:ext>
            </a:extLst>
          </p:cNvPr>
          <p:cNvSpPr txBox="1"/>
          <p:nvPr/>
        </p:nvSpPr>
        <p:spPr>
          <a:xfrm>
            <a:off x="1079500" y="1397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Daily Attendance Entry per Company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ADD439-05AC-C3FD-3339-4DD84BC32540}"/>
              </a:ext>
            </a:extLst>
          </p:cNvPr>
          <p:cNvSpPr/>
          <p:nvPr/>
        </p:nvSpPr>
        <p:spPr>
          <a:xfrm>
            <a:off x="762000" y="1993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866802-36BB-85C9-CCFE-121E0FAF8739}"/>
              </a:ext>
            </a:extLst>
          </p:cNvPr>
          <p:cNvSpPr txBox="1"/>
          <p:nvPr/>
        </p:nvSpPr>
        <p:spPr>
          <a:xfrm>
            <a:off x="1079500" y="1905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Automated Strength Calculation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222972-052D-F11D-E010-82BE87BD03C2}"/>
              </a:ext>
            </a:extLst>
          </p:cNvPr>
          <p:cNvSpPr/>
          <p:nvPr/>
        </p:nvSpPr>
        <p:spPr>
          <a:xfrm>
            <a:off x="762000" y="2501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54A7C-B08D-017D-598A-2EB9DBB1DEBC}"/>
              </a:ext>
            </a:extLst>
          </p:cNvPr>
          <p:cNvSpPr txBox="1"/>
          <p:nvPr/>
        </p:nvSpPr>
        <p:spPr>
          <a:xfrm>
            <a:off x="1079500" y="2413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Leave / Course / Duty / Sick Tracking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57B4AA-3D6B-CDFF-670A-C34D350C3883}"/>
              </a:ext>
            </a:extLst>
          </p:cNvPr>
          <p:cNvSpPr/>
          <p:nvPr/>
        </p:nvSpPr>
        <p:spPr>
          <a:xfrm>
            <a:off x="762000" y="3009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E74037-F5D3-011A-7457-E17ED5F87BDE}"/>
              </a:ext>
            </a:extLst>
          </p:cNvPr>
          <p:cNvSpPr txBox="1"/>
          <p:nvPr/>
        </p:nvSpPr>
        <p:spPr>
          <a:xfrm>
            <a:off x="1079500" y="2921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Approval Workflow (Clerk → Adjt → CO)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43724D-1B72-3246-2DA2-0C816823DE15}"/>
              </a:ext>
            </a:extLst>
          </p:cNvPr>
          <p:cNvSpPr/>
          <p:nvPr/>
        </p:nvSpPr>
        <p:spPr>
          <a:xfrm>
            <a:off x="762000" y="3517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E3A82B-6140-7DC8-51CC-D68CA4820365}"/>
              </a:ext>
            </a:extLst>
          </p:cNvPr>
          <p:cNvSpPr txBox="1"/>
          <p:nvPr/>
        </p:nvSpPr>
        <p:spPr>
          <a:xfrm>
            <a:off x="1079500" y="3429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Nominal Roll with Full Personnel Data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471DE9-C4F2-6089-2A61-A32B433C06F4}"/>
              </a:ext>
            </a:extLst>
          </p:cNvPr>
          <p:cNvSpPr/>
          <p:nvPr/>
        </p:nvSpPr>
        <p:spPr>
          <a:xfrm>
            <a:off x="6477000" y="1485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1C7C1-22E6-4FAE-AD32-440EB55BFA9F}"/>
              </a:ext>
            </a:extLst>
          </p:cNvPr>
          <p:cNvSpPr txBox="1"/>
          <p:nvPr/>
        </p:nvSpPr>
        <p:spPr>
          <a:xfrm>
            <a:off x="6794500" y="1397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Visual Analytics Dashboard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3670BE-68A8-3D72-D43F-9E89E8B3A71E}"/>
              </a:ext>
            </a:extLst>
          </p:cNvPr>
          <p:cNvSpPr/>
          <p:nvPr/>
        </p:nvSpPr>
        <p:spPr>
          <a:xfrm>
            <a:off x="6477000" y="1993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485318-4C46-9C26-37AD-7147C6F7DA8A}"/>
              </a:ext>
            </a:extLst>
          </p:cNvPr>
          <p:cNvSpPr txBox="1"/>
          <p:nvPr/>
        </p:nvSpPr>
        <p:spPr>
          <a:xfrm>
            <a:off x="6794500" y="1905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Manpower Shortage Alerts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0766FBE-467D-FA04-1701-D32338288895}"/>
              </a:ext>
            </a:extLst>
          </p:cNvPr>
          <p:cNvSpPr/>
          <p:nvPr/>
        </p:nvSpPr>
        <p:spPr>
          <a:xfrm>
            <a:off x="6477000" y="2501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FA45FD-7F8F-49AE-3C5F-577BA6059A01}"/>
              </a:ext>
            </a:extLst>
          </p:cNvPr>
          <p:cNvSpPr txBox="1"/>
          <p:nvPr/>
        </p:nvSpPr>
        <p:spPr>
          <a:xfrm>
            <a:off x="6794500" y="2413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Excel &amp; PDF Report Downloads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2B3B3D-524E-DBB4-4997-46B5F79E4DF5}"/>
              </a:ext>
            </a:extLst>
          </p:cNvPr>
          <p:cNvSpPr/>
          <p:nvPr/>
        </p:nvSpPr>
        <p:spPr>
          <a:xfrm>
            <a:off x="6477000" y="3009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A750AB-1D6E-4B71-08BB-A2AECE925A30}"/>
              </a:ext>
            </a:extLst>
          </p:cNvPr>
          <p:cNvSpPr txBox="1"/>
          <p:nvPr/>
        </p:nvSpPr>
        <p:spPr>
          <a:xfrm>
            <a:off x="6794500" y="2921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DDDDDD"/>
                </a:solidFill>
              </a:rPr>
              <a:t>30-Day Attendance Archive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384C944-C0EB-D160-A6B7-FBE5E78285F7}"/>
              </a:ext>
            </a:extLst>
          </p:cNvPr>
          <p:cNvSpPr/>
          <p:nvPr/>
        </p:nvSpPr>
        <p:spPr>
          <a:xfrm>
            <a:off x="6477000" y="3517900"/>
            <a:ext cx="152400" cy="1524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B5ED7-8FE8-5944-DF6D-5194045D18B0}"/>
              </a:ext>
            </a:extLst>
          </p:cNvPr>
          <p:cNvSpPr txBox="1"/>
          <p:nvPr/>
        </p:nvSpPr>
        <p:spPr>
          <a:xfrm>
            <a:off x="6794500" y="3429000"/>
            <a:ext cx="469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400">
                <a:solidFill>
                  <a:srgbClr val="DDDDDD"/>
                </a:solidFill>
              </a:rPr>
              <a:t>Dark Mode / Light Mode UI</a:t>
            </a:r>
            <a:endParaRPr lang="en-US" sz="1400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5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6F4C6-5DF7-8D51-E354-72D73291B6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68FA8A-13A5-D935-B8E1-F97A6ACEF2A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442E2-1568-573E-94AD-E9E4F33C7E73}"/>
              </a:ext>
            </a:extLst>
          </p:cNvPr>
          <p:cNvSpPr txBox="1"/>
          <p:nvPr/>
        </p:nvSpPr>
        <p:spPr>
          <a:xfrm>
            <a:off x="762000" y="381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DAILY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4C0F00-1F85-F22A-735E-B77A5FCCA967}"/>
              </a:ext>
            </a:extLst>
          </p:cNvPr>
          <p:cNvSpPr/>
          <p:nvPr/>
        </p:nvSpPr>
        <p:spPr>
          <a:xfrm>
            <a:off x="762000" y="10160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6DDE309-DC9D-CEC8-D312-1903A8BB9C5A}"/>
              </a:ext>
            </a:extLst>
          </p:cNvPr>
          <p:cNvSpPr/>
          <p:nvPr/>
        </p:nvSpPr>
        <p:spPr>
          <a:xfrm>
            <a:off x="825500" y="1397000"/>
            <a:ext cx="558800" cy="5588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34A71D-7CEB-054D-0A92-BCAFE4C02258}"/>
              </a:ext>
            </a:extLst>
          </p:cNvPr>
          <p:cNvSpPr txBox="1"/>
          <p:nvPr/>
        </p:nvSpPr>
        <p:spPr>
          <a:xfrm>
            <a:off x="825500" y="1473200"/>
            <a:ext cx="558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282828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466430-89E4-B661-16FF-9818BF7A4D18}"/>
              </a:ext>
            </a:extLst>
          </p:cNvPr>
          <p:cNvSpPr/>
          <p:nvPr/>
        </p:nvSpPr>
        <p:spPr>
          <a:xfrm>
            <a:off x="1079500" y="1955800"/>
            <a:ext cx="50800" cy="3810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08F5B-BC86-A5D4-95ED-1F5644A32EB4}"/>
              </a:ext>
            </a:extLst>
          </p:cNvPr>
          <p:cNvSpPr txBox="1"/>
          <p:nvPr/>
        </p:nvSpPr>
        <p:spPr>
          <a:xfrm>
            <a:off x="1651000" y="1397000"/>
            <a:ext cx="990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C800"/>
                </a:solidFill>
              </a:rPr>
              <a:t>Clerk Enters Attendance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A426C-30E5-3870-B01A-7AAB29B871AA}"/>
              </a:ext>
            </a:extLst>
          </p:cNvPr>
          <p:cNvSpPr txBox="1"/>
          <p:nvPr/>
        </p:nvSpPr>
        <p:spPr>
          <a:xfrm>
            <a:off x="1651000" y="1714500"/>
            <a:ext cx="990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BBBBBB"/>
                </a:solidFill>
              </a:rPr>
              <a:t>CHM Clerk logs in and marks each soldier Present / Absent / Leave / Course / Duty / Sick for their company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2C9C13-9C11-5942-CABA-7B1863DE78F5}"/>
              </a:ext>
            </a:extLst>
          </p:cNvPr>
          <p:cNvSpPr/>
          <p:nvPr/>
        </p:nvSpPr>
        <p:spPr>
          <a:xfrm>
            <a:off x="825500" y="2603500"/>
            <a:ext cx="558800" cy="5588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375D9-76D4-D5DB-4DC1-FB31EA1B6B90}"/>
              </a:ext>
            </a:extLst>
          </p:cNvPr>
          <p:cNvSpPr txBox="1"/>
          <p:nvPr/>
        </p:nvSpPr>
        <p:spPr>
          <a:xfrm>
            <a:off x="825500" y="2679700"/>
            <a:ext cx="558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282828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F6F28-9233-7DD0-F3CB-8245BB13187E}"/>
              </a:ext>
            </a:extLst>
          </p:cNvPr>
          <p:cNvSpPr/>
          <p:nvPr/>
        </p:nvSpPr>
        <p:spPr>
          <a:xfrm>
            <a:off x="1079500" y="3162300"/>
            <a:ext cx="50800" cy="3810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80E971-3EFA-70C2-600F-EB19827AA434}"/>
              </a:ext>
            </a:extLst>
          </p:cNvPr>
          <p:cNvSpPr txBox="1"/>
          <p:nvPr/>
        </p:nvSpPr>
        <p:spPr>
          <a:xfrm>
            <a:off x="1651000" y="2603500"/>
            <a:ext cx="990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C800"/>
                </a:solidFill>
              </a:rPr>
              <a:t>Adjutant Reviews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40A89A-092C-F226-C0AB-1C2EC44CA7C8}"/>
              </a:ext>
            </a:extLst>
          </p:cNvPr>
          <p:cNvSpPr txBox="1"/>
          <p:nvPr/>
        </p:nvSpPr>
        <p:spPr>
          <a:xfrm>
            <a:off x="1651000" y="2921000"/>
            <a:ext cx="990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BBBBBB"/>
                </a:solidFill>
              </a:rPr>
              <a:t>ADJT_SA reviews the parade state submission and approves or rejects entries for each company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0DD6D44-94F1-121D-1753-B80990B9D968}"/>
              </a:ext>
            </a:extLst>
          </p:cNvPr>
          <p:cNvSpPr/>
          <p:nvPr/>
        </p:nvSpPr>
        <p:spPr>
          <a:xfrm>
            <a:off x="825500" y="3810000"/>
            <a:ext cx="558800" cy="5588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8A9650-0229-5677-3A2E-308B88B413AC}"/>
              </a:ext>
            </a:extLst>
          </p:cNvPr>
          <p:cNvSpPr txBox="1"/>
          <p:nvPr/>
        </p:nvSpPr>
        <p:spPr>
          <a:xfrm>
            <a:off x="825500" y="3886200"/>
            <a:ext cx="558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282828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0BD89C-94C8-E67C-ECF5-CBB4442B6400}"/>
              </a:ext>
            </a:extLst>
          </p:cNvPr>
          <p:cNvSpPr/>
          <p:nvPr/>
        </p:nvSpPr>
        <p:spPr>
          <a:xfrm>
            <a:off x="1079500" y="4368800"/>
            <a:ext cx="50800" cy="3810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A6B7C4-43C2-4300-32E9-7385782ED51E}"/>
              </a:ext>
            </a:extLst>
          </p:cNvPr>
          <p:cNvSpPr txBox="1"/>
          <p:nvPr/>
        </p:nvSpPr>
        <p:spPr>
          <a:xfrm>
            <a:off x="1651000" y="3810000"/>
            <a:ext cx="990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C800"/>
                </a:solidFill>
              </a:rPr>
              <a:t>Strength Auto-Calculated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B13F65-97D8-5DAD-DB02-5399A63FA566}"/>
              </a:ext>
            </a:extLst>
          </p:cNvPr>
          <p:cNvSpPr txBox="1"/>
          <p:nvPr/>
        </p:nvSpPr>
        <p:spPr>
          <a:xfrm>
            <a:off x="1651000" y="4127500"/>
            <a:ext cx="990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BBBBBB"/>
                </a:solidFill>
              </a:rPr>
              <a:t>System aggregates approved entries into total present, absent and detached strength in real time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E25140-AD5F-7664-71CD-B60DC2705E61}"/>
              </a:ext>
            </a:extLst>
          </p:cNvPr>
          <p:cNvSpPr/>
          <p:nvPr/>
        </p:nvSpPr>
        <p:spPr>
          <a:xfrm>
            <a:off x="825500" y="5016500"/>
            <a:ext cx="558800" cy="5588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C5FEBA-A6AE-4B68-B3B2-BEC0A18A738F}"/>
              </a:ext>
            </a:extLst>
          </p:cNvPr>
          <p:cNvSpPr txBox="1"/>
          <p:nvPr/>
        </p:nvSpPr>
        <p:spPr>
          <a:xfrm>
            <a:off x="825500" y="5092700"/>
            <a:ext cx="5588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b="1">
                <a:solidFill>
                  <a:srgbClr val="282828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2D64EB-8DF1-64C4-569E-21DAB9562214}"/>
              </a:ext>
            </a:extLst>
          </p:cNvPr>
          <p:cNvSpPr txBox="1"/>
          <p:nvPr/>
        </p:nvSpPr>
        <p:spPr>
          <a:xfrm>
            <a:off x="1651000" y="5016500"/>
            <a:ext cx="990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C800"/>
                </a:solidFill>
              </a:rPr>
              <a:t>CO Views Dashboard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BBA596-418E-94C6-945D-836ED55EA745}"/>
              </a:ext>
            </a:extLst>
          </p:cNvPr>
          <p:cNvSpPr txBox="1"/>
          <p:nvPr/>
        </p:nvSpPr>
        <p:spPr>
          <a:xfrm>
            <a:off x="1651000" y="5334000"/>
            <a:ext cx="990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BBBBBB"/>
                </a:solidFill>
              </a:rPr>
              <a:t>Commanding Officer logs in (USER role) and views the live parade state, analytics and reports — read only</a:t>
            </a:r>
          </a:p>
        </p:txBody>
      </p:sp>
    </p:spTree>
    <p:extLst>
      <p:ext uri="{BB962C8B-B14F-4D97-AF65-F5344CB8AC3E}">
        <p14:creationId xmlns:p14="http://schemas.microsoft.com/office/powerpoint/2010/main" val="245587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FFA7DF-FCAA-0F41-262C-DDF28C582E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9E0F15-95FE-8AA5-039A-26CA8D2D958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4B87F-F705-5436-CCBE-2A635F28CC32}"/>
              </a:ext>
            </a:extLst>
          </p:cNvPr>
          <p:cNvSpPr txBox="1"/>
          <p:nvPr/>
        </p:nvSpPr>
        <p:spPr>
          <a:xfrm>
            <a:off x="762000" y="381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SECURITY &amp; DATA INTEGRITY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D3AEE-74F3-6BBD-6F42-DDAB896E57DD}"/>
              </a:ext>
            </a:extLst>
          </p:cNvPr>
          <p:cNvSpPr/>
          <p:nvPr/>
        </p:nvSpPr>
        <p:spPr>
          <a:xfrm>
            <a:off x="762000" y="10160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C9B76D-C6CF-F822-6F38-4A8B5CC7F52E}"/>
              </a:ext>
            </a:extLst>
          </p:cNvPr>
          <p:cNvSpPr/>
          <p:nvPr/>
        </p:nvSpPr>
        <p:spPr>
          <a:xfrm>
            <a:off x="762000" y="1397000"/>
            <a:ext cx="5334000" cy="9525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BD31C-29BF-9B74-13F3-B9A1A215FB87}"/>
              </a:ext>
            </a:extLst>
          </p:cNvPr>
          <p:cNvSpPr txBox="1"/>
          <p:nvPr/>
        </p:nvSpPr>
        <p:spPr>
          <a:xfrm>
            <a:off x="914400" y="1498600"/>
            <a:ext cx="5029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bcrypt Password Hashing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655F8-3366-4122-1D2E-D85CD0FABBCD}"/>
              </a:ext>
            </a:extLst>
          </p:cNvPr>
          <p:cNvSpPr txBox="1"/>
          <p:nvPr/>
        </p:nvSpPr>
        <p:spPr>
          <a:xfrm>
            <a:off x="914400" y="1816100"/>
            <a:ext cx="5029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All passwords stored as bcrypt hashes — plaintext never stored in the 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510173-CDD0-A243-0DF2-9B2C478DFA0D}"/>
              </a:ext>
            </a:extLst>
          </p:cNvPr>
          <p:cNvSpPr/>
          <p:nvPr/>
        </p:nvSpPr>
        <p:spPr>
          <a:xfrm>
            <a:off x="6350000" y="1397000"/>
            <a:ext cx="5334000" cy="9525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8504D5-7C37-3EFB-3698-20CBBE0D73C2}"/>
              </a:ext>
            </a:extLst>
          </p:cNvPr>
          <p:cNvSpPr txBox="1"/>
          <p:nvPr/>
        </p:nvSpPr>
        <p:spPr>
          <a:xfrm>
            <a:off x="6502400" y="1498600"/>
            <a:ext cx="5029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CSRF Protection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27BE9-5E4A-6DA6-46EA-7DEEF0730B82}"/>
              </a:ext>
            </a:extLst>
          </p:cNvPr>
          <p:cNvSpPr txBox="1"/>
          <p:nvPr/>
        </p:nvSpPr>
        <p:spPr>
          <a:xfrm>
            <a:off x="6502400" y="1816100"/>
            <a:ext cx="5029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All forms include CSRF tokens — prevents cross-site request forgery attacks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CE522-5E4C-4A4F-A565-0BDAD682D0A3}"/>
              </a:ext>
            </a:extLst>
          </p:cNvPr>
          <p:cNvSpPr/>
          <p:nvPr/>
        </p:nvSpPr>
        <p:spPr>
          <a:xfrm>
            <a:off x="762000" y="2514600"/>
            <a:ext cx="5334000" cy="9525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9C3BC-0A30-67CC-10C3-F2345B1306CF}"/>
              </a:ext>
            </a:extLst>
          </p:cNvPr>
          <p:cNvSpPr txBox="1"/>
          <p:nvPr/>
        </p:nvSpPr>
        <p:spPr>
          <a:xfrm>
            <a:off x="914400" y="2616200"/>
            <a:ext cx="5029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Account Lockout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90755-2FD2-4D45-FC24-BFB00E977CD8}"/>
              </a:ext>
            </a:extLst>
          </p:cNvPr>
          <p:cNvSpPr txBox="1"/>
          <p:nvPr/>
        </p:nvSpPr>
        <p:spPr>
          <a:xfrm>
            <a:off x="914400" y="2933700"/>
            <a:ext cx="5029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5 failed login attempts triggers a 15-minute lockout — brute force prevention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7E6406-DB5F-1E11-1535-8C79E7C9E15A}"/>
              </a:ext>
            </a:extLst>
          </p:cNvPr>
          <p:cNvSpPr/>
          <p:nvPr/>
        </p:nvSpPr>
        <p:spPr>
          <a:xfrm>
            <a:off x="6350000" y="2514600"/>
            <a:ext cx="5334000" cy="9525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3828EF-F40D-3B1D-9919-A221D378D412}"/>
              </a:ext>
            </a:extLst>
          </p:cNvPr>
          <p:cNvSpPr txBox="1"/>
          <p:nvPr/>
        </p:nvSpPr>
        <p:spPr>
          <a:xfrm>
            <a:off x="6502400" y="2616200"/>
            <a:ext cx="5029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Security-Question Reset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7717A8-E4EB-9612-DB0B-4C5BDD39CFD0}"/>
              </a:ext>
            </a:extLst>
          </p:cNvPr>
          <p:cNvSpPr txBox="1"/>
          <p:nvPr/>
        </p:nvSpPr>
        <p:spPr>
          <a:xfrm>
            <a:off x="6502400" y="2933700"/>
            <a:ext cx="5029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Self-service password reset via pre-set security question — no admin intervention needed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5DD903-4263-AADA-7910-FD18C2F3C61E}"/>
              </a:ext>
            </a:extLst>
          </p:cNvPr>
          <p:cNvSpPr/>
          <p:nvPr/>
        </p:nvSpPr>
        <p:spPr>
          <a:xfrm>
            <a:off x="762000" y="3632200"/>
            <a:ext cx="5334000" cy="9525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51C9D9-1693-4A1B-69F3-EA3B59AD9D8D}"/>
              </a:ext>
            </a:extLst>
          </p:cNvPr>
          <p:cNvSpPr txBox="1"/>
          <p:nvPr/>
        </p:nvSpPr>
        <p:spPr>
          <a:xfrm>
            <a:off x="914400" y="3733800"/>
            <a:ext cx="5029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Role-Based Page Routing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3975AA-CF6A-667D-F643-2A480ED0A7D1}"/>
              </a:ext>
            </a:extLst>
          </p:cNvPr>
          <p:cNvSpPr txBox="1"/>
          <p:nvPr/>
        </p:nvSpPr>
        <p:spPr>
          <a:xfrm>
            <a:off x="914400" y="4051300"/>
            <a:ext cx="5029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Every page checks the logged-in user's role — unauthorised access returns a 403 error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D8DDBB-B46B-A162-6C63-619C6F35C417}"/>
              </a:ext>
            </a:extLst>
          </p:cNvPr>
          <p:cNvSpPr/>
          <p:nvPr/>
        </p:nvSpPr>
        <p:spPr>
          <a:xfrm>
            <a:off x="6350000" y="3632200"/>
            <a:ext cx="5334000" cy="9525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31765A-7DA5-052A-455C-F9B2719B5B78}"/>
              </a:ext>
            </a:extLst>
          </p:cNvPr>
          <p:cNvSpPr txBox="1"/>
          <p:nvPr/>
        </p:nvSpPr>
        <p:spPr>
          <a:xfrm>
            <a:off x="6502400" y="3733800"/>
            <a:ext cx="50292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Offline / Internal Only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C81B66-9169-1250-B470-A889787E92D5}"/>
              </a:ext>
            </a:extLst>
          </p:cNvPr>
          <p:cNvSpPr txBox="1"/>
          <p:nvPr/>
        </p:nvSpPr>
        <p:spPr>
          <a:xfrm>
            <a:off x="6502400" y="4051300"/>
            <a:ext cx="5029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System runs on LAN — no internet exposure, no cloud attack surface</a:t>
            </a:r>
          </a:p>
        </p:txBody>
      </p:sp>
    </p:spTree>
    <p:extLst>
      <p:ext uri="{BB962C8B-B14F-4D97-AF65-F5344CB8AC3E}">
        <p14:creationId xmlns:p14="http://schemas.microsoft.com/office/powerpoint/2010/main" val="3264786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BF7FF8-F88E-1F33-D8D6-E3D3F4755B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DE19A-1ECA-A78B-35CB-61458F521BE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A1EB8-406D-FEB2-586F-9145E505E2AB}"/>
              </a:ext>
            </a:extLst>
          </p:cNvPr>
          <p:cNvSpPr txBox="1"/>
          <p:nvPr/>
        </p:nvSpPr>
        <p:spPr>
          <a:xfrm>
            <a:off x="762000" y="381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REPORTS &amp;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A76F31-5F33-B2F0-356B-153BB5F11459}"/>
              </a:ext>
            </a:extLst>
          </p:cNvPr>
          <p:cNvSpPr/>
          <p:nvPr/>
        </p:nvSpPr>
        <p:spPr>
          <a:xfrm>
            <a:off x="762000" y="10160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3D94A5-7148-09F1-A89B-FF4726578798}"/>
              </a:ext>
            </a:extLst>
          </p:cNvPr>
          <p:cNvSpPr/>
          <p:nvPr/>
        </p:nvSpPr>
        <p:spPr>
          <a:xfrm>
            <a:off x="698500" y="1371600"/>
            <a:ext cx="3683000" cy="1079500"/>
          </a:xfrm>
          <a:prstGeom prst="rect">
            <a:avLst/>
          </a:prstGeom>
          <a:solidFill>
            <a:srgbClr val="333333"/>
          </a:solidFill>
          <a:ln w="19050">
            <a:solidFill>
              <a:srgbClr val="0055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A4713-56E6-D4B4-8B95-1E409B43554F}"/>
              </a:ext>
            </a:extLst>
          </p:cNvPr>
          <p:cNvSpPr txBox="1"/>
          <p:nvPr/>
        </p:nvSpPr>
        <p:spPr>
          <a:xfrm>
            <a:off x="825500" y="1473200"/>
            <a:ext cx="342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Daily Parade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E22E78-64D2-3101-EF29-980BE1AB9920}"/>
              </a:ext>
            </a:extLst>
          </p:cNvPr>
          <p:cNvSpPr txBox="1"/>
          <p:nvPr/>
        </p:nvSpPr>
        <p:spPr>
          <a:xfrm>
            <a:off x="825500" y="18288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Full strength breakdown by company — present, absent, leave, course, sick, duty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946199-0E6B-EB09-200C-8365051DDB88}"/>
              </a:ext>
            </a:extLst>
          </p:cNvPr>
          <p:cNvSpPr/>
          <p:nvPr/>
        </p:nvSpPr>
        <p:spPr>
          <a:xfrm>
            <a:off x="4699000" y="1371600"/>
            <a:ext cx="3683000" cy="1079500"/>
          </a:xfrm>
          <a:prstGeom prst="rect">
            <a:avLst/>
          </a:prstGeom>
          <a:solidFill>
            <a:srgbClr val="333333"/>
          </a:solidFill>
          <a:ln w="19050">
            <a:solidFill>
              <a:srgbClr val="0055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96091-41FF-DBEB-7F68-9C5860D34136}"/>
              </a:ext>
            </a:extLst>
          </p:cNvPr>
          <p:cNvSpPr txBox="1"/>
          <p:nvPr/>
        </p:nvSpPr>
        <p:spPr>
          <a:xfrm>
            <a:off x="4826000" y="1473200"/>
            <a:ext cx="342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Attendance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FE7411-E33B-F058-4A9B-E2F79182EE45}"/>
              </a:ext>
            </a:extLst>
          </p:cNvPr>
          <p:cNvSpPr txBox="1"/>
          <p:nvPr/>
        </p:nvSpPr>
        <p:spPr>
          <a:xfrm>
            <a:off x="4826000" y="18288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Trend charts — attendance percentage over time, by company and individual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CDD848-B445-4A42-6209-A4E85947F33E}"/>
              </a:ext>
            </a:extLst>
          </p:cNvPr>
          <p:cNvSpPr/>
          <p:nvPr/>
        </p:nvSpPr>
        <p:spPr>
          <a:xfrm>
            <a:off x="8699500" y="1371600"/>
            <a:ext cx="3683000" cy="1079500"/>
          </a:xfrm>
          <a:prstGeom prst="rect">
            <a:avLst/>
          </a:prstGeom>
          <a:solidFill>
            <a:srgbClr val="333333"/>
          </a:solidFill>
          <a:ln w="19050">
            <a:solidFill>
              <a:srgbClr val="0055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A3960-FFBD-7B5F-7D96-62274B91C46E}"/>
              </a:ext>
            </a:extLst>
          </p:cNvPr>
          <p:cNvSpPr txBox="1"/>
          <p:nvPr/>
        </p:nvSpPr>
        <p:spPr>
          <a:xfrm>
            <a:off x="8826500" y="1473200"/>
            <a:ext cx="342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Coy Strength 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163022-263B-E338-71AD-3B91E211F1F9}"/>
              </a:ext>
            </a:extLst>
          </p:cNvPr>
          <p:cNvSpPr txBox="1"/>
          <p:nvPr/>
        </p:nvSpPr>
        <p:spPr>
          <a:xfrm>
            <a:off x="8826500" y="18288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Cross-company comparison of effective strength at a glance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7E112C-B90C-494A-ED2B-DF0A713AA778}"/>
              </a:ext>
            </a:extLst>
          </p:cNvPr>
          <p:cNvSpPr/>
          <p:nvPr/>
        </p:nvSpPr>
        <p:spPr>
          <a:xfrm>
            <a:off x="698500" y="2616200"/>
            <a:ext cx="3683000" cy="1079500"/>
          </a:xfrm>
          <a:prstGeom prst="rect">
            <a:avLst/>
          </a:prstGeom>
          <a:solidFill>
            <a:srgbClr val="333333"/>
          </a:solidFill>
          <a:ln w="19050">
            <a:solidFill>
              <a:srgbClr val="0055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0C84A3-9DA1-6E5C-7CB8-C6A88E7B159C}"/>
              </a:ext>
            </a:extLst>
          </p:cNvPr>
          <p:cNvSpPr txBox="1"/>
          <p:nvPr/>
        </p:nvSpPr>
        <p:spPr>
          <a:xfrm>
            <a:off x="825500" y="2717800"/>
            <a:ext cx="342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Leave / Course / Duty Report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1D7643-5F78-9EB5-E7D4-49CF3D029887}"/>
              </a:ext>
            </a:extLst>
          </p:cNvPr>
          <p:cNvSpPr txBox="1"/>
          <p:nvPr/>
        </p:nvSpPr>
        <p:spPr>
          <a:xfrm>
            <a:off x="825500" y="30734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All absences with dates, reasons, and approval status in one 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76F376-AD55-1618-CF55-44B128425D65}"/>
              </a:ext>
            </a:extLst>
          </p:cNvPr>
          <p:cNvSpPr/>
          <p:nvPr/>
        </p:nvSpPr>
        <p:spPr>
          <a:xfrm>
            <a:off x="4699000" y="2616200"/>
            <a:ext cx="3683000" cy="1079500"/>
          </a:xfrm>
          <a:prstGeom prst="rect">
            <a:avLst/>
          </a:prstGeom>
          <a:solidFill>
            <a:srgbClr val="333333"/>
          </a:solidFill>
          <a:ln w="19050">
            <a:solidFill>
              <a:srgbClr val="0055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B275ED-25DF-5ACA-F37E-DBAA59694CCC}"/>
              </a:ext>
            </a:extLst>
          </p:cNvPr>
          <p:cNvSpPr txBox="1"/>
          <p:nvPr/>
        </p:nvSpPr>
        <p:spPr>
          <a:xfrm>
            <a:off x="4826000" y="2717800"/>
            <a:ext cx="342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Nominal Roll Analytics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7E5B64-F287-69FC-0447-A3663BBEC29E}"/>
              </a:ext>
            </a:extLst>
          </p:cNvPr>
          <p:cNvSpPr txBox="1"/>
          <p:nvPr/>
        </p:nvSpPr>
        <p:spPr>
          <a:xfrm>
            <a:off x="4826000" y="30734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Blood group distribution, medical categories, rank-wise headcount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10C435-4FB3-FBC9-DB1C-CBFCFF778DE7}"/>
              </a:ext>
            </a:extLst>
          </p:cNvPr>
          <p:cNvSpPr/>
          <p:nvPr/>
        </p:nvSpPr>
        <p:spPr>
          <a:xfrm>
            <a:off x="8699500" y="2616200"/>
            <a:ext cx="3683000" cy="1079500"/>
          </a:xfrm>
          <a:prstGeom prst="rect">
            <a:avLst/>
          </a:prstGeom>
          <a:solidFill>
            <a:srgbClr val="333333"/>
          </a:solidFill>
          <a:ln w="19050">
            <a:solidFill>
              <a:srgbClr val="0055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B64EF-1CEA-E7BC-A4FA-74701345D277}"/>
              </a:ext>
            </a:extLst>
          </p:cNvPr>
          <p:cNvSpPr txBox="1"/>
          <p:nvPr/>
        </p:nvSpPr>
        <p:spPr>
          <a:xfrm>
            <a:off x="8826500" y="2717800"/>
            <a:ext cx="342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C800"/>
                </a:solidFill>
              </a:rPr>
              <a:t>Archive (30-Day History)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634A71-D851-CA43-967F-8C8C3A6E3037}"/>
              </a:ext>
            </a:extLst>
          </p:cNvPr>
          <p:cNvSpPr txBox="1"/>
          <p:nvPr/>
        </p:nvSpPr>
        <p:spPr>
          <a:xfrm>
            <a:off x="8826500" y="3073400"/>
            <a:ext cx="342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BBBBBB"/>
                </a:solidFill>
              </a:rPr>
              <a:t>Past parade states with full detail — exportable to Excel and PDF</a:t>
            </a:r>
          </a:p>
        </p:txBody>
      </p:sp>
    </p:spTree>
    <p:extLst>
      <p:ext uri="{BB962C8B-B14F-4D97-AF65-F5344CB8AC3E}">
        <p14:creationId xmlns:p14="http://schemas.microsoft.com/office/powerpoint/2010/main" val="81162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B48277-E134-83C1-614B-183C34D8DE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8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27E125-0037-E0A5-A899-B6E43E2FA8B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E10C1-5F7B-6091-1316-9883DC9CD46D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CA8246-07A0-4B57-9E8E-0005AC2C800B}"/>
              </a:ext>
            </a:extLst>
          </p:cNvPr>
          <p:cNvSpPr txBox="1"/>
          <p:nvPr/>
        </p:nvSpPr>
        <p:spPr>
          <a:xfrm>
            <a:off x="762000" y="4445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C800"/>
                </a:solidFill>
              </a:rPr>
              <a:t>SUMMARY &amp; WAY FORWARD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24D5E-EBEA-40CD-49DD-A902365BAE2B}"/>
              </a:ext>
            </a:extLst>
          </p:cNvPr>
          <p:cNvSpPr/>
          <p:nvPr/>
        </p:nvSpPr>
        <p:spPr>
          <a:xfrm>
            <a:off x="762000" y="1079500"/>
            <a:ext cx="2286000" cy="381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5C6D9-4A79-09E4-D33B-3B060071DBA5}"/>
              </a:ext>
            </a:extLst>
          </p:cNvPr>
          <p:cNvSpPr txBox="1"/>
          <p:nvPr/>
        </p:nvSpPr>
        <p:spPr>
          <a:xfrm>
            <a:off x="762000" y="1333500"/>
            <a:ext cx="533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C800"/>
                </a:solidFill>
              </a:rPr>
              <a:t>What Has Been Delivered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21161A-27D3-2366-175D-0C857ADB09B8}"/>
              </a:ext>
            </a:extLst>
          </p:cNvPr>
          <p:cNvSpPr/>
          <p:nvPr/>
        </p:nvSpPr>
        <p:spPr>
          <a:xfrm>
            <a:off x="825500" y="18542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7EE41-C0C1-7109-B2F4-6806AA3AB43A}"/>
              </a:ext>
            </a:extLst>
          </p:cNvPr>
          <p:cNvSpPr txBox="1"/>
          <p:nvPr/>
        </p:nvSpPr>
        <p:spPr>
          <a:xfrm>
            <a:off x="1079500" y="17780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Fully functional parade state web portal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43EB43C-F793-12B7-8CCD-064EB9EC307B}"/>
              </a:ext>
            </a:extLst>
          </p:cNvPr>
          <p:cNvSpPr/>
          <p:nvPr/>
        </p:nvSpPr>
        <p:spPr>
          <a:xfrm>
            <a:off x="825500" y="22860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69C65-56F4-C7F7-419C-8743376E4194}"/>
              </a:ext>
            </a:extLst>
          </p:cNvPr>
          <p:cNvSpPr txBox="1"/>
          <p:nvPr/>
        </p:nvSpPr>
        <p:spPr>
          <a:xfrm>
            <a:off x="1079500" y="22098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6 companies, 120 personnel pre-loaded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7A1802-66A6-F5FA-A0A7-31CCDD7B5BB7}"/>
              </a:ext>
            </a:extLst>
          </p:cNvPr>
          <p:cNvSpPr/>
          <p:nvPr/>
        </p:nvSpPr>
        <p:spPr>
          <a:xfrm>
            <a:off x="825500" y="27178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FEB16-C279-3271-940C-B065F94D9A21}"/>
              </a:ext>
            </a:extLst>
          </p:cNvPr>
          <p:cNvSpPr txBox="1"/>
          <p:nvPr/>
        </p:nvSpPr>
        <p:spPr>
          <a:xfrm>
            <a:off x="1079500" y="26416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All roles operational and tested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3C067EB-F25F-CC63-6FBE-BD0F53E8CFB3}"/>
              </a:ext>
            </a:extLst>
          </p:cNvPr>
          <p:cNvSpPr/>
          <p:nvPr/>
        </p:nvSpPr>
        <p:spPr>
          <a:xfrm>
            <a:off x="825500" y="31496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E5689B-5A28-D780-EE18-3D8FCD7992A3}"/>
              </a:ext>
            </a:extLst>
          </p:cNvPr>
          <p:cNvSpPr txBox="1"/>
          <p:nvPr/>
        </p:nvSpPr>
        <p:spPr>
          <a:xfrm>
            <a:off x="1079500" y="30734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Security hardened (CSRF, bcrypt, lockout)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BA3D812-DAB9-02F8-4136-7AAC5DBC2CC1}"/>
              </a:ext>
            </a:extLst>
          </p:cNvPr>
          <p:cNvSpPr/>
          <p:nvPr/>
        </p:nvSpPr>
        <p:spPr>
          <a:xfrm>
            <a:off x="825500" y="35814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061CF9-7BB7-9E7D-2152-5D788F8DF1CC}"/>
              </a:ext>
            </a:extLst>
          </p:cNvPr>
          <p:cNvSpPr txBox="1"/>
          <p:nvPr/>
        </p:nvSpPr>
        <p:spPr>
          <a:xfrm>
            <a:off x="1079500" y="35052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Excel and PDF export working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546769-7F37-A690-1BDB-DD408E46F222}"/>
              </a:ext>
            </a:extLst>
          </p:cNvPr>
          <p:cNvSpPr/>
          <p:nvPr/>
        </p:nvSpPr>
        <p:spPr>
          <a:xfrm>
            <a:off x="825500" y="40132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10F329-DBEF-240C-4028-7700EFD50528}"/>
              </a:ext>
            </a:extLst>
          </p:cNvPr>
          <p:cNvSpPr txBox="1"/>
          <p:nvPr/>
        </p:nvSpPr>
        <p:spPr>
          <a:xfrm>
            <a:off x="1079500" y="39370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User guide documentation complete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4FF67F-9263-3879-5FD4-396F56A75F75}"/>
              </a:ext>
            </a:extLst>
          </p:cNvPr>
          <p:cNvSpPr/>
          <p:nvPr/>
        </p:nvSpPr>
        <p:spPr>
          <a:xfrm>
            <a:off x="6286500" y="1333500"/>
            <a:ext cx="25400" cy="43180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AB3667-04C1-E339-E09E-18EBEC83B41E}"/>
              </a:ext>
            </a:extLst>
          </p:cNvPr>
          <p:cNvSpPr txBox="1"/>
          <p:nvPr/>
        </p:nvSpPr>
        <p:spPr>
          <a:xfrm>
            <a:off x="6540500" y="1333500"/>
            <a:ext cx="508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FFC800"/>
                </a:solidFill>
              </a:rPr>
              <a:t>Recommended Next Steps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7C37278-AA7B-14A3-E65C-6123C49C2DFE}"/>
              </a:ext>
            </a:extLst>
          </p:cNvPr>
          <p:cNvSpPr/>
          <p:nvPr/>
        </p:nvSpPr>
        <p:spPr>
          <a:xfrm>
            <a:off x="6604000" y="18542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5CC821-AADB-E91B-1357-D23D5B466C91}"/>
              </a:ext>
            </a:extLst>
          </p:cNvPr>
          <p:cNvSpPr txBox="1"/>
          <p:nvPr/>
        </p:nvSpPr>
        <p:spPr>
          <a:xfrm>
            <a:off x="6858000" y="17780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CO authorises system for unit-wide rollout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F4EB52E-51BB-F460-85B4-2F06822395E9}"/>
              </a:ext>
            </a:extLst>
          </p:cNvPr>
          <p:cNvSpPr/>
          <p:nvPr/>
        </p:nvSpPr>
        <p:spPr>
          <a:xfrm>
            <a:off x="6604000" y="22860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C0B61C-0DD4-5A0F-28AA-DC9204896518}"/>
              </a:ext>
            </a:extLst>
          </p:cNvPr>
          <p:cNvSpPr txBox="1"/>
          <p:nvPr/>
        </p:nvSpPr>
        <p:spPr>
          <a:xfrm>
            <a:off x="6858000" y="22098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Admin creates accounts for all CHM Clerks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369B0E-1A22-CAF6-1C35-D8956986DCCE}"/>
              </a:ext>
            </a:extLst>
          </p:cNvPr>
          <p:cNvSpPr/>
          <p:nvPr/>
        </p:nvSpPr>
        <p:spPr>
          <a:xfrm>
            <a:off x="6604000" y="27178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A340B5-3392-A1E8-4860-F0CB45B63364}"/>
              </a:ext>
            </a:extLst>
          </p:cNvPr>
          <p:cNvSpPr txBox="1"/>
          <p:nvPr/>
        </p:nvSpPr>
        <p:spPr>
          <a:xfrm>
            <a:off x="6858000" y="26416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Adjt/SA trained on approval workflow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1EB2546-8C5A-E1D6-C1BE-BCA5FB88703B}"/>
              </a:ext>
            </a:extLst>
          </p:cNvPr>
          <p:cNvSpPr/>
          <p:nvPr/>
        </p:nvSpPr>
        <p:spPr>
          <a:xfrm>
            <a:off x="6604000" y="31496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ADABB7-2C38-CB42-C178-781AAF753EB9}"/>
              </a:ext>
            </a:extLst>
          </p:cNvPr>
          <p:cNvSpPr txBox="1"/>
          <p:nvPr/>
        </p:nvSpPr>
        <p:spPr>
          <a:xfrm>
            <a:off x="6858000" y="30734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CO / 2IC / OCs briefed on USER login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FE5750-EB65-6776-AFFE-83120DF9CE34}"/>
              </a:ext>
            </a:extLst>
          </p:cNvPr>
          <p:cNvSpPr/>
          <p:nvPr/>
        </p:nvSpPr>
        <p:spPr>
          <a:xfrm>
            <a:off x="6604000" y="35814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F979EA-A086-A4BE-6F6A-AE863C8C3038}"/>
              </a:ext>
            </a:extLst>
          </p:cNvPr>
          <p:cNvSpPr txBox="1"/>
          <p:nvPr/>
        </p:nvSpPr>
        <p:spPr>
          <a:xfrm>
            <a:off x="6858000" y="35052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Daily use commences — Excel registers retired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934B5AE-A06E-6BAC-EC15-588334EF927C}"/>
              </a:ext>
            </a:extLst>
          </p:cNvPr>
          <p:cNvSpPr/>
          <p:nvPr/>
        </p:nvSpPr>
        <p:spPr>
          <a:xfrm>
            <a:off x="6604000" y="4013200"/>
            <a:ext cx="127000" cy="127000"/>
          </a:xfrm>
          <a:prstGeom prst="ellipse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AC737B-CEAA-4466-098F-F231FE1AFBC8}"/>
              </a:ext>
            </a:extLst>
          </p:cNvPr>
          <p:cNvSpPr txBox="1"/>
          <p:nvPr/>
        </p:nvSpPr>
        <p:spPr>
          <a:xfrm>
            <a:off x="6858000" y="3937000"/>
            <a:ext cx="4699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DDDDDD"/>
                </a:solidFill>
              </a:rPr>
              <a:t>Monthly review of reports by CO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FB5D50-1081-35D4-AC55-AE17A8CAEEF6}"/>
              </a:ext>
            </a:extLst>
          </p:cNvPr>
          <p:cNvSpPr txBox="1"/>
          <p:nvPr/>
        </p:nvSpPr>
        <p:spPr>
          <a:xfrm>
            <a:off x="762000" y="5816600"/>
            <a:ext cx="1066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FFC800"/>
                </a:solidFill>
              </a:rPr>
              <a:t>This system is ready for immediate deployment. Requesting Commanding Officer's approval to proceed.</a:t>
            </a:r>
          </a:p>
        </p:txBody>
      </p:sp>
    </p:spTree>
    <p:extLst>
      <p:ext uri="{BB962C8B-B14F-4D97-AF65-F5344CB8AC3E}">
        <p14:creationId xmlns:p14="http://schemas.microsoft.com/office/powerpoint/2010/main" val="287421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PresentationFormat>Custom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katoch</dc:creator>
  <cp:lastModifiedBy>Rishabh katoch</cp:lastModifiedBy>
  <cp:revision>1</cp:revision>
  <dcterms:created xsi:type="dcterms:W3CDTF">2026-05-15T10:16:32Z</dcterms:created>
  <dcterms:modified xsi:type="dcterms:W3CDTF">2026-05-15T10:16:32Z</dcterms:modified>
</cp:coreProperties>
</file>